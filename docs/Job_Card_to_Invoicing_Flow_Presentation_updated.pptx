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E7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3E73"/>
          </a:solidFill>
          <a:ln w="12700">
            <a:solidFill>
              <a:srgbClr val="173E73">
                <a:alpha val="0"/>
              </a:srgbClr>
            </a:solidFill>
            <a:prstDash val="solid"/>
          </a:ln>
        </p:spPr>
      </p:sp>
      <p:sp>
        <p:nvSpPr>
          <p:cNvPr id="3" name="Shape 1"/>
          <p:cNvSpPr/>
          <p:nvPr/>
        </p:nvSpPr>
        <p:spPr>
          <a:xfrm>
            <a:off x="0" y="0"/>
            <a:ext cx="12191695" cy="548640"/>
          </a:xfrm>
          <a:prstGeom prst="rect">
            <a:avLst/>
          </a:prstGeom>
          <a:solidFill>
            <a:srgbClr val="2563EB">
              <a:alpha val="35000"/>
            </a:srgbClr>
          </a:solidFill>
          <a:ln w="12700">
            <a:solidFill>
              <a:srgbClr val="2563EB">
                <a:alpha val="0"/>
              </a:srgbClr>
            </a:solidFill>
            <a:prstDash val="solid"/>
          </a:ln>
        </p:spPr>
      </p:sp>
      <p:sp>
        <p:nvSpPr>
          <p:cNvPr id="4" name="Shape 2"/>
          <p:cNvSpPr/>
          <p:nvPr/>
        </p:nvSpPr>
        <p:spPr>
          <a:xfrm>
            <a:off x="8412480" y="-365760"/>
            <a:ext cx="4023360" cy="4023360"/>
          </a:xfrm>
          <a:prstGeom prst="arc">
            <a:avLst/>
          </a:prstGeom>
          <a:solidFill>
            <a:srgbClr val="2F6FEA">
              <a:alpha val="28000"/>
            </a:srgbClr>
          </a:solidFill>
          <a:ln w="12700">
            <a:solidFill>
              <a:srgbClr val="2563EB">
                <a:alpha val="0"/>
              </a:srgbClr>
            </a:solidFill>
            <a:prstDash val="solid"/>
          </a:ln>
        </p:spPr>
      </p:sp>
      <p:sp>
        <p:nvSpPr>
          <p:cNvPr id="5" name="Shape 3"/>
          <p:cNvSpPr/>
          <p:nvPr/>
        </p:nvSpPr>
        <p:spPr>
          <a:xfrm>
            <a:off x="9235440" y="3474720"/>
            <a:ext cx="3291840" cy="3291840"/>
          </a:xfrm>
          <a:prstGeom prst="arc">
            <a:avLst/>
          </a:prstGeom>
          <a:solidFill>
            <a:srgbClr val="159A8F">
              <a:alpha val="22000"/>
            </a:srgbClr>
          </a:solidFill>
          <a:ln w="12700">
            <a:solidFill>
              <a:srgbClr val="0F766E">
                <a:alpha val="0"/>
              </a:srgbClr>
            </a:solidFill>
            <a:prstDash val="solid"/>
          </a:ln>
        </p:spPr>
      </p:sp>
      <p:sp>
        <p:nvSpPr>
          <p:cNvPr id="6" name="Text 4"/>
          <p:cNvSpPr/>
          <p:nvPr/>
        </p:nvSpPr>
        <p:spPr>
          <a:xfrm>
            <a:off x="658368" y="960120"/>
            <a:ext cx="7040880" cy="594360"/>
          </a:xfrm>
          <a:prstGeom prst="rect">
            <a:avLst/>
          </a:prstGeom>
          <a:noFill/>
          <a:ln/>
        </p:spPr>
        <p:txBody>
          <a:bodyPr wrap="square" lIns="0" tIns="0" rIns="0" bIns="0" rtlCol="0" anchor="ct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Job Card to Invoicing Flow</a:t>
            </a:r>
            <a:endParaRPr lang="en-US" sz="2800" dirty="0"/>
          </a:p>
        </p:txBody>
      </p:sp>
      <p:sp>
        <p:nvSpPr>
          <p:cNvPr id="7" name="Text 5"/>
          <p:cNvSpPr/>
          <p:nvPr/>
        </p:nvSpPr>
        <p:spPr>
          <a:xfrm>
            <a:off x="676656" y="1737360"/>
            <a:ext cx="6126480" cy="475488"/>
          </a:xfrm>
          <a:prstGeom prst="rect">
            <a:avLst/>
          </a:prstGeom>
          <a:noFill/>
          <a:ln/>
        </p:spPr>
        <p:txBody>
          <a:bodyPr wrap="square" lIns="0" tIns="0" rIns="0" bIns="0" rtlCol="0" anchor="ctr"/>
          <a:lstStyle/>
          <a:p>
            <a:pPr indent="0" marL="0">
              <a:buNone/>
            </a:pPr>
            <a:r>
              <a:rPr lang="en-US" sz="1500" dirty="0">
                <a:solidFill>
                  <a:srgbClr val="D7E6FF"/>
                </a:solidFill>
              </a:rPr>
              <a:t>A clear end-to-end view of how a job moves from entry to delivery, implementation, and final billing.</a:t>
            </a:r>
            <a:endParaRPr lang="en-US" sz="1500" dirty="0"/>
          </a:p>
        </p:txBody>
      </p:sp>
      <p:sp>
        <p:nvSpPr>
          <p:cNvPr id="8" name="Shape 6"/>
          <p:cNvSpPr/>
          <p:nvPr/>
        </p:nvSpPr>
        <p:spPr>
          <a:xfrm>
            <a:off x="694944" y="2761488"/>
            <a:ext cx="4526280" cy="1600200"/>
          </a:xfrm>
          <a:prstGeom prst="roundRect">
            <a:avLst>
              <a:gd name="adj" fmla="val 4571"/>
            </a:avLst>
          </a:prstGeom>
          <a:solidFill>
            <a:srgbClr val="0F2F63">
              <a:alpha val="92000"/>
            </a:srgbClr>
          </a:solidFill>
          <a:ln w="12700">
            <a:solidFill>
              <a:srgbClr val="6FA3FF"/>
            </a:solidFill>
            <a:prstDash val="solid"/>
          </a:ln>
        </p:spPr>
      </p:sp>
      <p:sp>
        <p:nvSpPr>
          <p:cNvPr id="9" name="Text 7"/>
          <p:cNvSpPr/>
          <p:nvPr/>
        </p:nvSpPr>
        <p:spPr>
          <a:xfrm>
            <a:off x="896112" y="2926080"/>
            <a:ext cx="3108960" cy="228600"/>
          </a:xfrm>
          <a:prstGeom prst="rect">
            <a:avLst/>
          </a:prstGeom>
          <a:noFill/>
          <a:ln/>
        </p:spPr>
        <p:txBody>
          <a:bodyPr wrap="square" lIns="0" tIns="0" rIns="0" bIns="0" rtlCol="0" anchor="ctr"/>
          <a:lstStyle/>
          <a:p>
            <a:pPr indent="0" marL="0">
              <a:buNone/>
            </a:pPr>
            <a:r>
              <a:rPr lang="en-US" sz="1400" b="1" dirty="0">
                <a:solidFill>
                  <a:srgbClr val="FFFFFF"/>
                </a:solidFill>
              </a:rPr>
              <a:t>What this presentation covers</a:t>
            </a:r>
            <a:endParaRPr lang="en-US" sz="1400" dirty="0"/>
          </a:p>
        </p:txBody>
      </p:sp>
      <p:sp>
        <p:nvSpPr>
          <p:cNvPr id="10" name="Text 8"/>
          <p:cNvSpPr/>
          <p:nvPr/>
        </p:nvSpPr>
        <p:spPr>
          <a:xfrm>
            <a:off x="914400" y="3246120"/>
            <a:ext cx="4023360" cy="914400"/>
          </a:xfrm>
          <a:prstGeom prst="rect">
            <a:avLst/>
          </a:prstGeom>
          <a:noFill/>
          <a:ln/>
        </p:spPr>
        <p:txBody>
          <a:bodyPr wrap="square" lIns="0" tIns="0" rIns="0" bIns="0" rtlCol="0" anchor="ctr">
            <a:normAutofit/>
          </a:bodyPr>
          <a:lstStyle/>
          <a:p>
            <a:pPr marL="152400" indent="-152400">
              <a:buSzPct val="100000"/>
              <a:buChar char="•"/>
            </a:pPr>
            <a:r>
              <a:rPr lang="en-US" sz="1100" dirty="0">
                <a:solidFill>
                  <a:srgbClr val="EAF2FF"/>
                </a:solidFill>
              </a:rPr>
              <a:t>Job card creation and line-item capture</a:t>
            </a:r>
            <a:endParaRPr lang="en-US" sz="1100" dirty="0"/>
          </a:p>
          <a:p>
            <a:pPr marL="152400" indent="-152400">
              <a:buSzPct val="100000"/>
              <a:buChar char="•"/>
            </a:pPr>
            <a:r>
              <a:rPr lang="en-US" sz="1100" dirty="0">
                <a:solidFill>
                  <a:srgbClr val="EAF2FF"/>
                </a:solidFill>
              </a:rPr>
              <a:t>Estimate sharing and customer approval</a:t>
            </a:r>
            <a:endParaRPr lang="en-US" sz="1100" dirty="0"/>
          </a:p>
          <a:p>
            <a:pPr marL="152400" indent="-152400">
              <a:buSzPct val="100000"/>
              <a:buChar char="•"/>
            </a:pPr>
            <a:r>
              <a:rPr lang="en-US" sz="1100" dirty="0">
                <a:solidFill>
                  <a:srgbClr val="EAF2FF"/>
                </a:solidFill>
              </a:rPr>
              <a:t>Operational handoffs through production, delivery, and implementation</a:t>
            </a:r>
            <a:endParaRPr lang="en-US" sz="1100" dirty="0"/>
          </a:p>
          <a:p>
            <a:pPr marL="152400" indent="-152400">
              <a:buSzPct val="100000"/>
              <a:buChar char="•"/>
            </a:pPr>
            <a:r>
              <a:rPr lang="en-US" sz="1100" dirty="0">
                <a:solidFill>
                  <a:srgbClr val="EAF2FF"/>
                </a:solidFill>
              </a:rPr>
              <a:t>Invoice preparation and reporting</a:t>
            </a:r>
            <a:endParaRPr lang="en-US" sz="1100" dirty="0"/>
          </a:p>
        </p:txBody>
      </p:sp>
      <p:sp>
        <p:nvSpPr>
          <p:cNvPr id="11" name="Text 9"/>
          <p:cNvSpPr/>
          <p:nvPr/>
        </p:nvSpPr>
        <p:spPr>
          <a:xfrm>
            <a:off x="713232" y="5989320"/>
            <a:ext cx="2194560" cy="182880"/>
          </a:xfrm>
          <a:prstGeom prst="rect">
            <a:avLst/>
          </a:prstGeom>
          <a:noFill/>
          <a:ln/>
        </p:spPr>
        <p:txBody>
          <a:bodyPr wrap="square" lIns="0" tIns="0" rIns="0" bIns="0" rtlCol="0" anchor="ctr"/>
          <a:lstStyle/>
          <a:p>
            <a:pPr indent="0" marL="0">
              <a:buNone/>
            </a:pPr>
            <a:r>
              <a:rPr lang="en-US" sz="1000" b="1" dirty="0">
                <a:solidFill>
                  <a:srgbClr val="CFE1FF"/>
                </a:solidFill>
              </a:rPr>
              <a:t>Production MIS</a:t>
            </a:r>
            <a:endParaRPr lang="en-US" sz="1000" dirty="0"/>
          </a:p>
        </p:txBody>
      </p:sp>
      <p:sp>
        <p:nvSpPr>
          <p:cNvPr id="12" name="Text 10"/>
          <p:cNvSpPr/>
          <p:nvPr/>
        </p:nvSpPr>
        <p:spPr>
          <a:xfrm>
            <a:off x="713232" y="6236208"/>
            <a:ext cx="3566160" cy="164592"/>
          </a:xfrm>
          <a:prstGeom prst="rect">
            <a:avLst/>
          </a:prstGeom>
          <a:noFill/>
          <a:ln/>
        </p:spPr>
        <p:txBody>
          <a:bodyPr wrap="square" lIns="0" tIns="0" rIns="0" bIns="0" rtlCol="0" anchor="ctr"/>
          <a:lstStyle/>
          <a:p>
            <a:pPr indent="0" marL="0">
              <a:buNone/>
            </a:pPr>
            <a:r>
              <a:rPr lang="en-US" sz="850" dirty="0">
                <a:solidFill>
                  <a:srgbClr val="B9D0F7"/>
                </a:solidFill>
              </a:rPr>
              <a:t>Prepared for internal walkthroughs and team presentations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Presentation Description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This deck explains how a job moves from creation to invoice generation inside Production MIS.</a:t>
            </a:r>
            <a:endParaRPr lang="en-US" sz="950" dirty="0"/>
          </a:p>
        </p:txBody>
      </p:sp>
      <p:sp>
        <p:nvSpPr>
          <p:cNvPr id="5" name="Shape 3"/>
          <p:cNvSpPr/>
          <p:nvPr/>
        </p:nvSpPr>
        <p:spPr>
          <a:xfrm>
            <a:off x="685800" y="1143000"/>
            <a:ext cx="3520440" cy="1828800"/>
          </a:xfrm>
          <a:prstGeom prst="roundRect">
            <a:avLst>
              <a:gd name="adj" fmla="val 4000"/>
            </a:avLst>
          </a:prstGeom>
          <a:solidFill>
            <a:srgbClr val="FFFF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6" name="Shape 4"/>
          <p:cNvSpPr/>
          <p:nvPr/>
        </p:nvSpPr>
        <p:spPr>
          <a:xfrm>
            <a:off x="685800" y="1143000"/>
            <a:ext cx="109728" cy="1828800"/>
          </a:xfrm>
          <a:prstGeom prst="rect">
            <a:avLst/>
          </a:prstGeom>
          <a:solidFill>
            <a:srgbClr val="2563EB"/>
          </a:solidFill>
          <a:ln w="12700">
            <a:solidFill>
              <a:srgbClr val="2563EB">
                <a:alpha val="0"/>
              </a:srgbClr>
            </a:solidFill>
            <a:prstDash val="solid"/>
          </a:ln>
        </p:spPr>
      </p:sp>
      <p:sp>
        <p:nvSpPr>
          <p:cNvPr id="7" name="Text 5"/>
          <p:cNvSpPr/>
          <p:nvPr/>
        </p:nvSpPr>
        <p:spPr>
          <a:xfrm>
            <a:off x="868680" y="1271016"/>
            <a:ext cx="3264408" cy="237744"/>
          </a:xfrm>
          <a:prstGeom prst="rect">
            <a:avLst/>
          </a:prstGeom>
          <a:noFill/>
          <a:ln/>
        </p:spPr>
        <p:txBody>
          <a:bodyPr wrap="square" lIns="0" tIns="0" rIns="0" bIns="0" rtlCol="0" anchor="ctr"/>
          <a:lstStyle/>
          <a:p>
            <a:pPr indent="0" marL="0">
              <a:buNone/>
            </a:pPr>
            <a:r>
              <a:rPr lang="en-US" sz="1300" b="1" dirty="0">
                <a:solidFill>
                  <a:srgbClr val="10233D"/>
                </a:solidFill>
              </a:rPr>
              <a:t>Purpose</a:t>
            </a:r>
            <a:endParaRPr lang="en-US" sz="1300" dirty="0"/>
          </a:p>
        </p:txBody>
      </p:sp>
      <p:sp>
        <p:nvSpPr>
          <p:cNvPr id="8" name="Text 6"/>
          <p:cNvSpPr/>
          <p:nvPr/>
        </p:nvSpPr>
        <p:spPr>
          <a:xfrm>
            <a:off x="868680" y="1581912"/>
            <a:ext cx="3209544" cy="1280160"/>
          </a:xfrm>
          <a:prstGeom prst="rect">
            <a:avLst/>
          </a:prstGeom>
          <a:noFill/>
          <a:ln/>
        </p:spPr>
        <p:txBody>
          <a:bodyPr wrap="square" lIns="0" tIns="0" rIns="0" bIns="0" rtlCol="0" anchor="t">
            <a:normAutofit/>
          </a:bodyPr>
          <a:lstStyle/>
          <a:p>
            <a:pPr indent="0" marL="0">
              <a:buNone/>
            </a:pPr>
            <a:r>
              <a:rPr lang="en-US" sz="950" dirty="0">
                <a:solidFill>
                  <a:srgbClr val="475569"/>
                </a:solidFill>
              </a:rPr>
              <a:t>Show the full operational flow in a simple order so teams can understand where each action happens and why the job card matters.</a:t>
            </a:r>
            <a:endParaRPr lang="en-US" sz="950" dirty="0"/>
          </a:p>
        </p:txBody>
      </p:sp>
      <p:sp>
        <p:nvSpPr>
          <p:cNvPr id="9" name="Shape 7"/>
          <p:cNvSpPr/>
          <p:nvPr/>
        </p:nvSpPr>
        <p:spPr>
          <a:xfrm>
            <a:off x="4434840" y="1143000"/>
            <a:ext cx="3520440" cy="1828800"/>
          </a:xfrm>
          <a:prstGeom prst="roundRect">
            <a:avLst>
              <a:gd name="adj" fmla="val 4000"/>
            </a:avLst>
          </a:prstGeom>
          <a:solidFill>
            <a:srgbClr val="FFFF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10" name="Shape 8"/>
          <p:cNvSpPr/>
          <p:nvPr/>
        </p:nvSpPr>
        <p:spPr>
          <a:xfrm>
            <a:off x="4434840" y="1143000"/>
            <a:ext cx="109728" cy="1828800"/>
          </a:xfrm>
          <a:prstGeom prst="rect">
            <a:avLst/>
          </a:prstGeom>
          <a:solidFill>
            <a:srgbClr val="0F766E"/>
          </a:solidFill>
          <a:ln w="12700">
            <a:solidFill>
              <a:srgbClr val="0F766E">
                <a:alpha val="0"/>
              </a:srgbClr>
            </a:solidFill>
            <a:prstDash val="solid"/>
          </a:ln>
        </p:spPr>
      </p:sp>
      <p:sp>
        <p:nvSpPr>
          <p:cNvPr id="11" name="Text 9"/>
          <p:cNvSpPr/>
          <p:nvPr/>
        </p:nvSpPr>
        <p:spPr>
          <a:xfrm>
            <a:off x="4617720" y="1271016"/>
            <a:ext cx="3264408" cy="237744"/>
          </a:xfrm>
          <a:prstGeom prst="rect">
            <a:avLst/>
          </a:prstGeom>
          <a:noFill/>
          <a:ln/>
        </p:spPr>
        <p:txBody>
          <a:bodyPr wrap="square" lIns="0" tIns="0" rIns="0" bIns="0" rtlCol="0" anchor="ctr"/>
          <a:lstStyle/>
          <a:p>
            <a:pPr indent="0" marL="0">
              <a:buNone/>
            </a:pPr>
            <a:r>
              <a:rPr lang="en-US" sz="1300" b="1" dirty="0">
                <a:solidFill>
                  <a:srgbClr val="10233D"/>
                </a:solidFill>
              </a:rPr>
              <a:t>Audience</a:t>
            </a:r>
            <a:endParaRPr lang="en-US" sz="1300" dirty="0"/>
          </a:p>
        </p:txBody>
      </p:sp>
      <p:sp>
        <p:nvSpPr>
          <p:cNvPr id="12" name="Text 10"/>
          <p:cNvSpPr/>
          <p:nvPr/>
        </p:nvSpPr>
        <p:spPr>
          <a:xfrm>
            <a:off x="4617720" y="1581912"/>
            <a:ext cx="3209544" cy="1280160"/>
          </a:xfrm>
          <a:prstGeom prst="rect">
            <a:avLst/>
          </a:prstGeom>
          <a:noFill/>
          <a:ln/>
        </p:spPr>
        <p:txBody>
          <a:bodyPr wrap="square" lIns="0" tIns="0" rIns="0" bIns="0" rtlCol="0" anchor="t">
            <a:normAutofit/>
          </a:bodyPr>
          <a:lstStyle/>
          <a:p>
            <a:pPr indent="0" marL="0">
              <a:buNone/>
            </a:pPr>
            <a:r>
              <a:rPr lang="en-US" sz="950" dirty="0">
                <a:solidFill>
                  <a:srgbClr val="475569"/>
                </a:solidFill>
              </a:rPr>
              <a:t>Useful for CS, job entry, production, implementation, billing, and management teams during training or process review.</a:t>
            </a:r>
            <a:endParaRPr lang="en-US" sz="950" dirty="0"/>
          </a:p>
        </p:txBody>
      </p:sp>
      <p:sp>
        <p:nvSpPr>
          <p:cNvPr id="13" name="Shape 11"/>
          <p:cNvSpPr/>
          <p:nvPr/>
        </p:nvSpPr>
        <p:spPr>
          <a:xfrm>
            <a:off x="8183880" y="1143000"/>
            <a:ext cx="3310128" cy="1828800"/>
          </a:xfrm>
          <a:prstGeom prst="roundRect">
            <a:avLst>
              <a:gd name="adj" fmla="val 4000"/>
            </a:avLst>
          </a:prstGeom>
          <a:solidFill>
            <a:srgbClr val="FFFF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14" name="Shape 12"/>
          <p:cNvSpPr/>
          <p:nvPr/>
        </p:nvSpPr>
        <p:spPr>
          <a:xfrm>
            <a:off x="8183880" y="1143000"/>
            <a:ext cx="109728" cy="1828800"/>
          </a:xfrm>
          <a:prstGeom prst="rect">
            <a:avLst/>
          </a:prstGeom>
          <a:solidFill>
            <a:srgbClr val="C98A1B"/>
          </a:solidFill>
          <a:ln w="12700">
            <a:solidFill>
              <a:srgbClr val="C98A1B">
                <a:alpha val="0"/>
              </a:srgbClr>
            </a:solidFill>
            <a:prstDash val="solid"/>
          </a:ln>
        </p:spPr>
      </p:sp>
      <p:sp>
        <p:nvSpPr>
          <p:cNvPr id="15" name="Text 13"/>
          <p:cNvSpPr/>
          <p:nvPr/>
        </p:nvSpPr>
        <p:spPr>
          <a:xfrm>
            <a:off x="8366760" y="1271016"/>
            <a:ext cx="3054096" cy="237744"/>
          </a:xfrm>
          <a:prstGeom prst="rect">
            <a:avLst/>
          </a:prstGeom>
          <a:noFill/>
          <a:ln/>
        </p:spPr>
        <p:txBody>
          <a:bodyPr wrap="square" lIns="0" tIns="0" rIns="0" bIns="0" rtlCol="0" anchor="ctr"/>
          <a:lstStyle/>
          <a:p>
            <a:pPr indent="0" marL="0">
              <a:buNone/>
            </a:pPr>
            <a:r>
              <a:rPr lang="en-US" sz="1300" b="1" dirty="0">
                <a:solidFill>
                  <a:srgbClr val="10233D"/>
                </a:solidFill>
              </a:rPr>
              <a:t>Outcome</a:t>
            </a:r>
            <a:endParaRPr lang="en-US" sz="1300" dirty="0"/>
          </a:p>
        </p:txBody>
      </p:sp>
      <p:sp>
        <p:nvSpPr>
          <p:cNvPr id="16" name="Text 14"/>
          <p:cNvSpPr/>
          <p:nvPr/>
        </p:nvSpPr>
        <p:spPr>
          <a:xfrm>
            <a:off x="8366760" y="1581912"/>
            <a:ext cx="2999232" cy="1280160"/>
          </a:xfrm>
          <a:prstGeom prst="rect">
            <a:avLst/>
          </a:prstGeom>
          <a:noFill/>
          <a:ln/>
        </p:spPr>
        <p:txBody>
          <a:bodyPr wrap="square" lIns="0" tIns="0" rIns="0" bIns="0" rtlCol="0" anchor="t">
            <a:normAutofit/>
          </a:bodyPr>
          <a:lstStyle/>
          <a:p>
            <a:pPr indent="0" marL="0">
              <a:buNone/>
            </a:pPr>
            <a:r>
              <a:rPr lang="en-US" sz="950" dirty="0">
                <a:solidFill>
                  <a:srgbClr val="475569"/>
                </a:solidFill>
              </a:rPr>
              <a:t>Everyone gets a shared view of handoffs, required checks, and the point where invoicing should begin.</a:t>
            </a:r>
            <a:endParaRPr lang="en-US" sz="950" dirty="0"/>
          </a:p>
        </p:txBody>
      </p:sp>
      <p:sp>
        <p:nvSpPr>
          <p:cNvPr id="17" name="Shape 15"/>
          <p:cNvSpPr/>
          <p:nvPr/>
        </p:nvSpPr>
        <p:spPr>
          <a:xfrm>
            <a:off x="685800" y="3291840"/>
            <a:ext cx="10808208" cy="1874520"/>
          </a:xfrm>
          <a:prstGeom prst="roundRect">
            <a:avLst>
              <a:gd name="adj" fmla="val 3902"/>
            </a:avLst>
          </a:prstGeom>
          <a:solidFill>
            <a:srgbClr val="F9FBFF"/>
          </a:solidFill>
          <a:ln w="12700">
            <a:solidFill>
              <a:srgbClr val="D8E2F0"/>
            </a:solidFill>
            <a:prstDash val="solid"/>
          </a:ln>
          <a:effectLst>
            <a:outerShdw sx="100000" sy="100000" kx="0" ky="0" algn="bl" rotWithShape="0" blurRad="12700" dist="50800" dir="2700000">
              <a:srgbClr val="C9D5E8">
                <a:alpha val="15000"/>
              </a:srgbClr>
            </a:outerShdw>
          </a:effectLst>
        </p:spPr>
      </p:sp>
      <p:sp>
        <p:nvSpPr>
          <p:cNvPr id="18" name="Shape 16"/>
          <p:cNvSpPr/>
          <p:nvPr/>
        </p:nvSpPr>
        <p:spPr>
          <a:xfrm>
            <a:off x="685800" y="3291840"/>
            <a:ext cx="109728" cy="1874520"/>
          </a:xfrm>
          <a:prstGeom prst="rect">
            <a:avLst/>
          </a:prstGeom>
          <a:solidFill>
            <a:srgbClr val="B42318"/>
          </a:solidFill>
          <a:ln w="12700">
            <a:solidFill>
              <a:srgbClr val="B42318">
                <a:alpha val="0"/>
              </a:srgbClr>
            </a:solidFill>
            <a:prstDash val="solid"/>
          </a:ln>
        </p:spPr>
      </p:sp>
      <p:sp>
        <p:nvSpPr>
          <p:cNvPr id="19" name="Text 17"/>
          <p:cNvSpPr/>
          <p:nvPr/>
        </p:nvSpPr>
        <p:spPr>
          <a:xfrm>
            <a:off x="868680" y="3419856"/>
            <a:ext cx="10552176" cy="237744"/>
          </a:xfrm>
          <a:prstGeom prst="rect">
            <a:avLst/>
          </a:prstGeom>
          <a:noFill/>
          <a:ln/>
        </p:spPr>
        <p:txBody>
          <a:bodyPr wrap="square" lIns="0" tIns="0" rIns="0" bIns="0" rtlCol="0" anchor="ctr"/>
          <a:lstStyle/>
          <a:p>
            <a:pPr indent="0" marL="0">
              <a:buNone/>
            </a:pPr>
            <a:r>
              <a:rPr lang="en-US" sz="1300" b="1" dirty="0">
                <a:solidFill>
                  <a:srgbClr val="10233D"/>
                </a:solidFill>
              </a:rPr>
              <a:t>How to read the flow</a:t>
            </a:r>
            <a:endParaRPr lang="en-US" sz="1300" dirty="0"/>
          </a:p>
        </p:txBody>
      </p:sp>
      <p:sp>
        <p:nvSpPr>
          <p:cNvPr id="20" name="Text 18"/>
          <p:cNvSpPr/>
          <p:nvPr/>
        </p:nvSpPr>
        <p:spPr>
          <a:xfrm>
            <a:off x="868680" y="3730752"/>
            <a:ext cx="10497312" cy="1325880"/>
          </a:xfrm>
          <a:prstGeom prst="rect">
            <a:avLst/>
          </a:prstGeom>
          <a:noFill/>
          <a:ln/>
        </p:spPr>
        <p:txBody>
          <a:bodyPr wrap="square" lIns="0" tIns="0" rIns="0" bIns="0" rtlCol="0" anchor="t">
            <a:normAutofit/>
          </a:bodyPr>
          <a:lstStyle/>
          <a:p>
            <a:pPr indent="0" marL="0">
              <a:buNone/>
            </a:pPr>
            <a:r>
              <a:rPr lang="en-US" sz="950" dirty="0">
                <a:solidFill>
                  <a:srgbClr val="475569"/>
                </a:solidFill>
              </a:rPr>
              <a:t>Start with the job card, check whether an estimate is needed, then follow the work through design, printing, finishing, delivery, implementation, and finally billing. Each stage depends on clean data from the previous step, especially billing location, dimensions, charges, and proof of execution.</a:t>
            </a:r>
            <a:endParaRPr lang="en-US" sz="950" dirty="0"/>
          </a:p>
        </p:txBody>
      </p:sp>
      <p:sp>
        <p:nvSpPr>
          <p:cNvPr id="21" name="Text 19"/>
          <p:cNvSpPr/>
          <p:nvPr/>
        </p:nvSpPr>
        <p:spPr>
          <a:xfrm>
            <a:off x="822960" y="5486400"/>
            <a:ext cx="10515600" cy="182880"/>
          </a:xfrm>
          <a:prstGeom prst="rect">
            <a:avLst/>
          </a:prstGeom>
          <a:noFill/>
          <a:ln/>
        </p:spPr>
        <p:txBody>
          <a:bodyPr wrap="square" lIns="0" tIns="0" rIns="0" bIns="0" rtlCol="0" anchor="ctr"/>
          <a:lstStyle/>
          <a:p>
            <a:pPr algn="ctr" indent="0" marL="0">
              <a:buNone/>
            </a:pPr>
            <a:r>
              <a:rPr lang="en-US" sz="1100" dirty="0">
                <a:solidFill>
                  <a:srgbClr val="475569"/>
                </a:solidFill>
              </a:rPr>
              <a:t>This slide gives the audience the context they need before the detailed process slides begin.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Job ID Creation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Start here to choose the creation path for a job card or estimate.</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jobs.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2563EB"/>
          </a:solidFill>
          <a:ln w="12700">
            <a:solidFill>
              <a:srgbClr val="2563E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Choose Estimate when you want to prepare a quotation first.</a:t>
            </a:r>
            <a:endParaRPr lang="en-US" sz="1010" dirty="0"/>
          </a:p>
          <a:p>
            <a:pPr marL="152400" indent="-152400">
              <a:buSzPct val="100000"/>
              <a:buChar char="•"/>
            </a:pPr>
            <a:r>
              <a:rPr lang="en-US" sz="1010" dirty="0">
                <a:solidFill>
                  <a:srgbClr val="475569"/>
                </a:solidFill>
              </a:rPr>
              <a:t>Choose Job Card Creation when you want to open a job directly.</a:t>
            </a:r>
            <a:endParaRPr lang="en-US" sz="1010" dirty="0"/>
          </a:p>
          <a:p>
            <a:pPr marL="152400" indent="-152400">
              <a:buSzPct val="100000"/>
              <a:buChar char="•"/>
            </a:pPr>
            <a:r>
              <a:rPr lang="en-US" sz="1010" dirty="0">
                <a:solidFill>
                  <a:srgbClr val="475569"/>
                </a:solidFill>
              </a:rPr>
              <a:t>Click Continue after selecting the workflow type.</a:t>
            </a:r>
            <a:endParaRPr lang="en-US" sz="10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Estimate Setup</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Use this path when the team needs a new estimate or wants to continue an estimate flow.</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estimate-step2.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0F766E"/>
          </a:solidFill>
          <a:ln w="12700">
            <a:solidFill>
              <a:srgbClr val="0F766E">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Estimate and move to the second step.</a:t>
            </a:r>
            <a:endParaRPr lang="en-US" sz="1010" dirty="0"/>
          </a:p>
          <a:p>
            <a:pPr marL="152400" indent="-152400">
              <a:buSzPct val="100000"/>
              <a:buChar char="•"/>
            </a:pPr>
            <a:r>
              <a:rPr lang="en-US" sz="1010" dirty="0">
                <a:solidFill>
                  <a:srgbClr val="475569"/>
                </a:solidFill>
              </a:rPr>
              <a:t>Choose New for a blank estimate or Existing to continue a saved job.</a:t>
            </a:r>
            <a:endParaRPr lang="en-US" sz="1010" dirty="0"/>
          </a:p>
          <a:p>
            <a:pPr marL="152400" indent="-152400">
              <a:buSzPct val="100000"/>
              <a:buChar char="•"/>
            </a:pPr>
            <a:r>
              <a:rPr lang="en-US" sz="1010" dirty="0">
                <a:solidFill>
                  <a:srgbClr val="475569"/>
                </a:solidFill>
              </a:rPr>
              <a:t>Use Send Estimate when the estimate is ready to share.</a:t>
            </a:r>
            <a:endParaRPr lang="en-US" sz="10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Estimate Existing</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The existing estimate path is used when you continue from a saved job or estimate list.</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estimate-existing.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C98A1B"/>
          </a:solidFill>
          <a:ln w="12700">
            <a:solidFill>
              <a:srgbClr val="C98A1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Use Existing to search the Job ID list for an already-started estimate.</a:t>
            </a:r>
            <a:endParaRPr lang="en-US" sz="1010" dirty="0"/>
          </a:p>
          <a:p>
            <a:pPr marL="152400" indent="-152400">
              <a:buSzPct val="100000"/>
              <a:buChar char="•"/>
            </a:pPr>
            <a:r>
              <a:rPr lang="en-US" sz="1010" dirty="0">
                <a:solidFill>
                  <a:srgbClr val="475569"/>
                </a:solidFill>
              </a:rPr>
              <a:t>This helps continue work instead of starting from scratch.</a:t>
            </a:r>
            <a:endParaRPr lang="en-US" sz="1010" dirty="0"/>
          </a:p>
          <a:p>
            <a:pPr marL="152400" indent="-152400">
              <a:buSzPct val="100000"/>
              <a:buChar char="•"/>
            </a:pPr>
            <a:r>
              <a:rPr lang="en-US" sz="1010" dirty="0">
                <a:solidFill>
                  <a:srgbClr val="475569"/>
                </a:solidFill>
              </a:rPr>
              <a:t>The same estimate screen supports mail, PDF, and save actions.</a:t>
            </a:r>
            <a:endParaRPr lang="en-US" sz="10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Job Card Creation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Use this path to open a new job-card form or continue an existing Job ID.</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job-step2.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B42318"/>
          </a:solidFill>
          <a:ln w="12700">
            <a:solidFill>
              <a:srgbClr val="B42318">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Job Card Creation and continue to the second step.</a:t>
            </a:r>
            <a:endParaRPr lang="en-US" sz="1010" dirty="0"/>
          </a:p>
          <a:p>
            <a:pPr marL="152400" indent="-152400">
              <a:buSzPct val="100000"/>
              <a:buChar char="•"/>
            </a:pPr>
            <a:r>
              <a:rPr lang="en-US" sz="1010" dirty="0">
                <a:solidFill>
                  <a:srgbClr val="475569"/>
                </a:solidFill>
              </a:rPr>
              <a:t>Choose New to open a blank job-card form or Existing to continue an old job.</a:t>
            </a:r>
            <a:endParaRPr lang="en-US" sz="1010" dirty="0"/>
          </a:p>
          <a:p>
            <a:pPr marL="152400" indent="-152400">
              <a:buSzPct val="100000"/>
              <a:buChar char="•"/>
            </a:pPr>
            <a:r>
              <a:rPr lang="en-US" sz="1010" dirty="0">
                <a:solidFill>
                  <a:srgbClr val="475569"/>
                </a:solidFill>
              </a:rPr>
              <a:t>Job card data is the source for all downstream production and billing steps.</a:t>
            </a:r>
            <a:endParaRPr lang="en-US" sz="10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Existing Job</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This screen opens after choosing Existing from Estimate or Job Card Creation.</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job-existing.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173E73"/>
          </a:solidFill>
          <a:ln w="12700">
            <a:solidFill>
              <a:srgbClr val="173E73">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Step 1 selects Estimate or Job Card Creation, then step 2 selects Existing.</a:t>
            </a:r>
            <a:endParaRPr lang="en-US" sz="1010" dirty="0"/>
          </a:p>
          <a:p>
            <a:pPr marL="152400" indent="-152400">
              <a:buSzPct val="100000"/>
              <a:buChar char="•"/>
            </a:pPr>
            <a:r>
              <a:rPr lang="en-US" sz="1010" dirty="0">
                <a:solidFill>
                  <a:srgbClr val="475569"/>
                </a:solidFill>
              </a:rPr>
              <a:t>Change Creation Type takes you back to the first step if you picked the wrong flow.</a:t>
            </a:r>
            <a:endParaRPr lang="en-US" sz="1010" dirty="0"/>
          </a:p>
          <a:p>
            <a:pPr marL="152400" indent="-152400">
              <a:buSzPct val="100000"/>
              <a:buChar char="•"/>
            </a:pPr>
            <a:r>
              <a:rPr lang="en-US" sz="1010" dirty="0">
                <a:solidFill>
                  <a:srgbClr val="475569"/>
                </a:solidFill>
              </a:rPr>
              <a:t>Use Add Row, Draft, Copy Row, PDF, and Save to Drafts to continue the job entry.</a:t>
            </a:r>
            <a:endParaRPr lang="en-US" sz="1010" dirty="0"/>
          </a:p>
          <a:p>
            <a:pPr marL="152400" indent="-152400">
              <a:buSzPct val="100000"/>
              <a:buChar char="•"/>
            </a:pPr>
            <a:r>
              <a:rPr lang="en-US" sz="1010" dirty="0">
                <a:solidFill>
                  <a:srgbClr val="475569"/>
                </a:solidFill>
              </a:rPr>
              <a:t>Send to Production passes the completed job to the next team.</a:t>
            </a:r>
            <a:endParaRPr lang="en-US" sz="10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CS Screen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CS tracks job status, hold state, and row-level progress.</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cs.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2563EB"/>
          </a:solidFill>
          <a:ln w="12700">
            <a:solidFill>
              <a:srgbClr val="2563E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Review job no, client, location, and current production status.</a:t>
            </a:r>
            <a:endParaRPr lang="en-US" sz="1010" dirty="0"/>
          </a:p>
          <a:p>
            <a:pPr marL="152400" indent="-152400">
              <a:buSzPct val="100000"/>
              <a:buChar char="•"/>
            </a:pPr>
            <a:r>
              <a:rPr lang="en-US" sz="1010" dirty="0">
                <a:solidFill>
                  <a:srgbClr val="475569"/>
                </a:solidFill>
              </a:rPr>
              <a:t>Use this screen to monitor hold, pending, and completed rows.</a:t>
            </a:r>
            <a:endParaRPr lang="en-US" sz="1010" dirty="0"/>
          </a:p>
          <a:p>
            <a:pPr marL="152400" indent="-152400">
              <a:buSzPct val="100000"/>
              <a:buChar char="•"/>
            </a:pPr>
            <a:r>
              <a:rPr lang="en-US" sz="1010" dirty="0">
                <a:solidFill>
                  <a:srgbClr val="475569"/>
                </a:solidFill>
              </a:rPr>
              <a:t>CS is the control point before work moves deeper into production.</a:t>
            </a:r>
            <a:endParaRPr lang="en-US" sz="10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Delivery</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Capture dispatch details and create the delivery challan.</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delivery.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0F766E"/>
          </a:solidFill>
          <a:ln w="12700">
            <a:solidFill>
              <a:srgbClr val="0F766E">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Enter delivery person, delivery start, delivery completed time, and mode.</a:t>
            </a:r>
            <a:endParaRPr lang="en-US" sz="1010" dirty="0"/>
          </a:p>
          <a:p>
            <a:pPr marL="152400" indent="-152400">
              <a:buSzPct val="100000"/>
              <a:buChar char="•"/>
            </a:pPr>
            <a:r>
              <a:rPr lang="en-US" sz="1010" dirty="0">
                <a:solidFill>
                  <a:srgbClr val="475569"/>
                </a:solidFill>
              </a:rPr>
              <a:t>Click Add to save the delivery detail row.</a:t>
            </a:r>
            <a:endParaRPr lang="en-US" sz="1010" dirty="0"/>
          </a:p>
          <a:p>
            <a:pPr marL="152400" indent="-152400">
              <a:buSzPct val="100000"/>
              <a:buChar char="•"/>
            </a:pPr>
            <a:r>
              <a:rPr lang="en-US" sz="1010" dirty="0">
                <a:solidFill>
                  <a:srgbClr val="475569"/>
                </a:solidFill>
              </a:rPr>
              <a:t>Create Challan to generate the delivery record for billing and proof.</a:t>
            </a:r>
            <a:endParaRPr lang="en-US" sz="10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Implementation</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Record on-site execution and upload proof media.</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mplementation.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C98A1B"/>
          </a:solidFill>
          <a:ln w="12700">
            <a:solidFill>
              <a:srgbClr val="C98A1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the implemented rows and create the implementation challan.</a:t>
            </a:r>
            <a:endParaRPr lang="en-US" sz="1010" dirty="0"/>
          </a:p>
          <a:p>
            <a:pPr marL="152400" indent="-152400">
              <a:buSzPct val="100000"/>
              <a:buChar char="•"/>
            </a:pPr>
            <a:r>
              <a:rPr lang="en-US" sz="1010" dirty="0">
                <a:solidFill>
                  <a:srgbClr val="475569"/>
                </a:solidFill>
              </a:rPr>
              <a:t>Upload media or proof photos for verification.</a:t>
            </a:r>
            <a:endParaRPr lang="en-US" sz="1010" dirty="0"/>
          </a:p>
          <a:p>
            <a:pPr marL="152400" indent="-152400">
              <a:buSzPct val="100000"/>
              <a:buChar char="•"/>
            </a:pPr>
            <a:r>
              <a:rPr lang="en-US" sz="1010" dirty="0">
                <a:solidFill>
                  <a:srgbClr val="475569"/>
                </a:solidFill>
              </a:rPr>
              <a:t>Implementation proof is the final operational checkpoint before invoicing.</a:t>
            </a:r>
            <a:endParaRPr lang="en-US" sz="10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Challan Dashboard</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View all delivery and implementation challans in one place.</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challan.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B42318"/>
          </a:solidFill>
          <a:ln w="12700">
            <a:solidFill>
              <a:srgbClr val="B42318">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Search challans by customer, job, or challan type.</a:t>
            </a:r>
            <a:endParaRPr lang="en-US" sz="1010" dirty="0"/>
          </a:p>
          <a:p>
            <a:pPr marL="152400" indent="-152400">
              <a:buSzPct val="100000"/>
              <a:buChar char="•"/>
            </a:pPr>
            <a:r>
              <a:rPr lang="en-US" sz="1010" dirty="0">
                <a:solidFill>
                  <a:srgbClr val="475569"/>
                </a:solidFill>
              </a:rPr>
              <a:t>Use this dashboard to review delivery and implementation records together.</a:t>
            </a:r>
            <a:endParaRPr lang="en-US" sz="1010" dirty="0"/>
          </a:p>
          <a:p>
            <a:pPr marL="152400" indent="-152400">
              <a:buSzPct val="100000"/>
              <a:buChar char="•"/>
            </a:pPr>
            <a:r>
              <a:rPr lang="en-US" sz="1010" dirty="0">
                <a:solidFill>
                  <a:srgbClr val="475569"/>
                </a:solidFill>
              </a:rPr>
              <a:t>This is useful when billing or operations need a quick verification point.</a:t>
            </a:r>
            <a:endParaRPr lang="en-US" sz="10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Invoice Preview</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Prepare the invoice after delivery and implementation are complete.</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nvoice.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173E73"/>
          </a:solidFill>
          <a:ln w="12700">
            <a:solidFill>
              <a:srgbClr val="173E73">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Select the job from the invoice queue and review invoice details.</a:t>
            </a:r>
            <a:endParaRPr lang="en-US" sz="1010" dirty="0"/>
          </a:p>
          <a:p>
            <a:pPr marL="152400" indent="-152400">
              <a:buSzPct val="100000"/>
              <a:buChar char="•"/>
            </a:pPr>
            <a:r>
              <a:rPr lang="en-US" sz="1010" dirty="0">
                <a:solidFill>
                  <a:srgbClr val="475569"/>
                </a:solidFill>
              </a:rPr>
              <a:t>Confirm bill-to, PO, E-way details, and address fields.</a:t>
            </a:r>
            <a:endParaRPr lang="en-US" sz="1010" dirty="0"/>
          </a:p>
          <a:p>
            <a:pPr marL="152400" indent="-152400">
              <a:buSzPct val="100000"/>
              <a:buChar char="•"/>
            </a:pPr>
            <a:r>
              <a:rPr lang="en-US" sz="1010" dirty="0">
                <a:solidFill>
                  <a:srgbClr val="475569"/>
                </a:solidFill>
              </a:rPr>
              <a:t>Save Draft or Final Invoice when everything is correct.</a:t>
            </a:r>
            <a:endParaRPr lang="en-US" sz="10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All Invoices</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See saved invoices and filter them by date or invoice number.</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nvoice-list.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0F766E"/>
          </a:solidFill>
          <a:ln w="12700">
            <a:solidFill>
              <a:srgbClr val="0F766E">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Search and filter invoices by client, job, location, or invoice number.</a:t>
            </a:r>
            <a:endParaRPr lang="en-US" sz="1010" dirty="0"/>
          </a:p>
          <a:p>
            <a:pPr marL="152400" indent="-152400">
              <a:buSzPct val="100000"/>
              <a:buChar char="•"/>
            </a:pPr>
            <a:r>
              <a:rPr lang="en-US" sz="1010" dirty="0">
                <a:solidFill>
                  <a:srgbClr val="475569"/>
                </a:solidFill>
              </a:rPr>
              <a:t>Use this screen to review existing billing records.</a:t>
            </a:r>
            <a:endParaRPr lang="en-US" sz="1010" dirty="0"/>
          </a:p>
          <a:p>
            <a:pPr marL="152400" indent="-152400">
              <a:buSzPct val="100000"/>
              <a:buChar char="•"/>
            </a:pPr>
            <a:r>
              <a:rPr lang="en-US" sz="1010" dirty="0">
                <a:solidFill>
                  <a:srgbClr val="475569"/>
                </a:solidFill>
              </a:rPr>
              <a:t>This acts as the invoice register for the billing team.</a:t>
            </a:r>
            <a:endParaRPr lang="en-US" sz="10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173E73"/>
          </a:solidFill>
          <a:ln w="12700">
            <a:solidFill>
              <a:srgbClr val="173E73">
                <a:alpha val="0"/>
              </a:srgbClr>
            </a:solidFill>
            <a:prstDash val="solid"/>
          </a:ln>
        </p:spPr>
      </p:sp>
      <p:sp>
        <p:nvSpPr>
          <p:cNvPr id="3" name="Text 1"/>
          <p:cNvSpPr/>
          <p:nvPr/>
        </p:nvSpPr>
        <p:spPr>
          <a:xfrm>
            <a:off x="502920" y="164592"/>
            <a:ext cx="6949440" cy="310896"/>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Implementation Download</a:t>
            </a:r>
            <a:endParaRPr lang="en-US" sz="2200" dirty="0"/>
          </a:p>
        </p:txBody>
      </p:sp>
      <p:sp>
        <p:nvSpPr>
          <p:cNvPr id="4" name="Text 2"/>
          <p:cNvSpPr/>
          <p:nvPr/>
        </p:nvSpPr>
        <p:spPr>
          <a:xfrm>
            <a:off x="530352" y="512064"/>
            <a:ext cx="9875520" cy="219456"/>
          </a:xfrm>
          <a:prstGeom prst="rect">
            <a:avLst/>
          </a:prstGeom>
          <a:noFill/>
          <a:ln/>
        </p:spPr>
        <p:txBody>
          <a:bodyPr wrap="square" lIns="0" tIns="0" rIns="0" bIns="0" rtlCol="0" anchor="ctr"/>
          <a:lstStyle/>
          <a:p>
            <a:pPr indent="0" marL="0">
              <a:buNone/>
            </a:pPr>
            <a:r>
              <a:rPr lang="en-US" sz="950" dirty="0">
                <a:solidFill>
                  <a:srgbClr val="607086"/>
                </a:solidFill>
              </a:rPr>
              <a:t>Review or export implementation upload records.</a:t>
            </a:r>
            <a:endParaRPr lang="en-US" sz="950" dirty="0"/>
          </a:p>
        </p:txBody>
      </p:sp>
      <p:sp>
        <p:nvSpPr>
          <p:cNvPr id="5" name="Shape 3"/>
          <p:cNvSpPr/>
          <p:nvPr/>
        </p:nvSpPr>
        <p:spPr>
          <a:xfrm>
            <a:off x="658368" y="1097280"/>
            <a:ext cx="7269480" cy="5230368"/>
          </a:xfrm>
          <a:prstGeom prst="roundRect">
            <a:avLst>
              <a:gd name="adj" fmla="val 1049"/>
            </a:avLst>
          </a:prstGeom>
          <a:solidFill>
            <a:srgbClr val="FFFFFF"/>
          </a:solidFill>
          <a:ln w="12700">
            <a:solidFill>
              <a:srgbClr val="CBD5E1"/>
            </a:solidFill>
            <a:prstDash val="solid"/>
          </a:ln>
        </p:spPr>
      </p:sp>
      <p:pic>
        <p:nvPicPr>
          <p:cNvPr id="6" name="Image 0" descr="D:\Pratiksha\MIS Final Zip 14-04-25\Production-MIS (3)\Production-MIS\tmp\slide-shots\implementation-download.png">    </p:cNvPr>
          <p:cNvPicPr>
            <a:picLocks noChangeAspect="1"/>
          </p:cNvPicPr>
          <p:nvPr/>
        </p:nvPicPr>
        <p:blipFill>
          <a:blip r:embed="rId1"/>
          <a:stretch>
            <a:fillRect/>
          </a:stretch>
        </p:blipFill>
        <p:spPr>
          <a:xfrm>
            <a:off x="749808" y="1188720"/>
            <a:ext cx="7086600" cy="5047488"/>
          </a:xfrm>
          <a:prstGeom prst="rect">
            <a:avLst/>
          </a:prstGeom>
        </p:spPr>
      </p:pic>
      <p:sp>
        <p:nvSpPr>
          <p:cNvPr id="7" name="Shape 4"/>
          <p:cNvSpPr/>
          <p:nvPr/>
        </p:nvSpPr>
        <p:spPr>
          <a:xfrm>
            <a:off x="8156448" y="1097280"/>
            <a:ext cx="3401568" cy="5230368"/>
          </a:xfrm>
          <a:prstGeom prst="roundRect">
            <a:avLst>
              <a:gd name="adj" fmla="val 1613"/>
            </a:avLst>
          </a:prstGeom>
          <a:solidFill>
            <a:srgbClr val="F8FBFF"/>
          </a:solidFill>
          <a:ln w="12700">
            <a:solidFill>
              <a:srgbClr val="CBD5E1"/>
            </a:solidFill>
            <a:prstDash val="solid"/>
          </a:ln>
        </p:spPr>
      </p:sp>
      <p:sp>
        <p:nvSpPr>
          <p:cNvPr id="8" name="Shape 5"/>
          <p:cNvSpPr/>
          <p:nvPr/>
        </p:nvSpPr>
        <p:spPr>
          <a:xfrm>
            <a:off x="8156448" y="1097280"/>
            <a:ext cx="109728" cy="5230368"/>
          </a:xfrm>
          <a:prstGeom prst="rect">
            <a:avLst/>
          </a:prstGeom>
          <a:solidFill>
            <a:srgbClr val="2563EB"/>
          </a:solidFill>
          <a:ln w="12700">
            <a:solidFill>
              <a:srgbClr val="2563EB">
                <a:alpha val="0"/>
              </a:srgbClr>
            </a:solidFill>
            <a:prstDash val="solid"/>
          </a:ln>
        </p:spPr>
      </p:sp>
      <p:sp>
        <p:nvSpPr>
          <p:cNvPr id="9" name="Text 6"/>
          <p:cNvSpPr/>
          <p:nvPr/>
        </p:nvSpPr>
        <p:spPr>
          <a:xfrm>
            <a:off x="8339328" y="1298448"/>
            <a:ext cx="2011680" cy="182880"/>
          </a:xfrm>
          <a:prstGeom prst="rect">
            <a:avLst/>
          </a:prstGeom>
          <a:noFill/>
          <a:ln/>
        </p:spPr>
        <p:txBody>
          <a:bodyPr wrap="square" lIns="0" tIns="0" rIns="0" bIns="0" rtlCol="0" anchor="ctr"/>
          <a:lstStyle/>
          <a:p>
            <a:pPr indent="0" marL="0">
              <a:buNone/>
            </a:pPr>
            <a:r>
              <a:rPr lang="en-US" sz="1250" b="1" dirty="0">
                <a:solidFill>
                  <a:srgbClr val="10233D"/>
                </a:solidFill>
              </a:rPr>
              <a:t>Key points</a:t>
            </a:r>
            <a:endParaRPr lang="en-US" sz="1250" dirty="0"/>
          </a:p>
        </p:txBody>
      </p:sp>
      <p:sp>
        <p:nvSpPr>
          <p:cNvPr id="10" name="Text 7"/>
          <p:cNvSpPr/>
          <p:nvPr/>
        </p:nvSpPr>
        <p:spPr>
          <a:xfrm>
            <a:off x="8339328" y="1600200"/>
            <a:ext cx="2907792" cy="4526280"/>
          </a:xfrm>
          <a:prstGeom prst="rect">
            <a:avLst/>
          </a:prstGeom>
          <a:noFill/>
          <a:ln/>
        </p:spPr>
        <p:txBody>
          <a:bodyPr wrap="square" lIns="0" tIns="0" rIns="0" bIns="0" rtlCol="0" anchor="ctr">
            <a:normAutofit/>
          </a:bodyPr>
          <a:lstStyle/>
          <a:p>
            <a:pPr marL="152400" indent="-152400">
              <a:buSzPct val="100000"/>
              <a:buChar char="•"/>
            </a:pPr>
            <a:r>
              <a:rPr lang="en-US" sz="1010" dirty="0">
                <a:solidFill>
                  <a:srgbClr val="475569"/>
                </a:solidFill>
              </a:rPr>
              <a:t>Use this screen to inspect implementation upload data.</a:t>
            </a:r>
            <a:endParaRPr lang="en-US" sz="1010" dirty="0"/>
          </a:p>
          <a:p>
            <a:pPr marL="152400" indent="-152400">
              <a:buSzPct val="100000"/>
              <a:buChar char="•"/>
            </a:pPr>
            <a:r>
              <a:rPr lang="en-US" sz="1010" dirty="0">
                <a:solidFill>
                  <a:srgbClr val="475569"/>
                </a:solidFill>
              </a:rPr>
              <a:t>It is helpful when rechecking proof, size, or site execution details.</a:t>
            </a:r>
            <a:endParaRPr lang="en-US" sz="1010" dirty="0"/>
          </a:p>
          <a:p>
            <a:pPr marL="152400" indent="-152400">
              <a:buSzPct val="100000"/>
              <a:buChar char="•"/>
            </a:pPr>
            <a:r>
              <a:rPr lang="en-US" sz="1010" dirty="0">
                <a:solidFill>
                  <a:srgbClr val="475569"/>
                </a:solidFill>
              </a:rPr>
              <a:t>Export or filter the records when the billing team needs supporting evidence.</a:t>
            </a:r>
            <a:endParaRPr lang="en-US" sz="10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Production MIS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Card to Invoicing Flow</dc:title>
  <dc:subject>Job card to invoicing workflow</dc:subject>
  <dc:creator>Codex</dc:creator>
  <cp:lastModifiedBy>Codex</cp:lastModifiedBy>
  <cp:revision>1</cp:revision>
  <dcterms:created xsi:type="dcterms:W3CDTF">2026-08-06T06:13:05Z</dcterms:created>
  <dcterms:modified xsi:type="dcterms:W3CDTF">2026-08-06T06:13:05Z</dcterms:modified>
</cp:coreProperties>
</file>